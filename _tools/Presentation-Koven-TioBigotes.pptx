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pic>
        <p:nvPicPr>
          <p:cNvPr id="3" name="Image 0" descr="https://tiobigotes.fr/cdn/shop/files/logo-blanc.png?v=1692804243&amp;width=60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365760"/>
            <a:ext cx="45720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PROPOSITION</a:t>
            </a:r>
            <a:endParaRPr lang="en-US" sz="5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COMMERCIALE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</a:rPr>
              <a:t>Acquisition digitale : B2C clients &amp; préparation franchise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</a:rPr>
              <a:t>Confidentiel — Avril 2026</a:t>
            </a:r>
            <a:endParaRPr lang="en-US" sz="1300" dirty="0"/>
          </a:p>
        </p:txBody>
      </p:sp>
      <p:pic>
        <p:nvPicPr>
          <p:cNvPr id="7" name="Image 1" descr="/Users/zahouane/Test HZ Dev/_tools/koven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5120640"/>
            <a:ext cx="4114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DIAGNOSTIC — </a:t>
            </a:r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CE QUE NOUS AVONS COMPRIS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CONSTATS ACTUELS 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Aucun budget publicitaire Meta ou Google actif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Site B2B (franchise) existant → retirer la promotion Franchise Expo obsolète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Site B2C espagnol à exploiter → ajouter un module langue française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Aucun tracking conversions actif → algorithmes « aveugles »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Communauté Instagram France encore à construire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FORCES DE LA MARQUE 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7373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Concept unique et authentique → empanada argentine artisanale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Réseau international → Espagne, Pays-Bas, France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Compte Instagram espagnol puissant : 39 000 followers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Qualité produit et visuels exceptionnels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</a:rPr>
              <a:t>• Boutique Paris 11e → emplacement stratégique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10698480" cy="2011680"/>
          </a:xfrm>
          <a:prstGeom prst="roundRect">
            <a:avLst>
              <a:gd name="adj" fmla="val 6818"/>
            </a:avLst>
          </a:prstGeom>
          <a:solidFill>
            <a:srgbClr val="D0E8F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NOTRE RÉPONSE : 2 CIBLES, 1 STRATÉGIE INTÉGRÉE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9377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CIBLE 1 : B2C CLIENTS
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Créer la désirabilité de la marque, développer la communauté et générer du trafic en boutique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49377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CIBLE 2 : B2B FRANCHISE (À 6 MOIS)
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Recruter des candidats franchisés qualifiés une fois la marque installée en France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PHASE 0 : </a:t>
            </a:r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SETUP TECHNIQUE &amp; FONDATIONS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SETUP COMPTES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331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Configuration Business Manager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Configuration Ads Manager Meta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Création compte Google Ads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Liaison comptes IG FR + FB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Stratégie compte national + local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B8A9E8"/>
          </a:solidFill>
          <a:ln w="25400">
            <a:solidFill>
              <a:srgbClr val="F5C7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SETUP TRACKING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2331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Pixel Meta sur tiobigotes.fr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Tag Manager + événements conversion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GA4 configuré avec objectifs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Suivi parcours prospect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  (source Meta / Google)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ACQUISITION FOLLOWERS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2331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Campagne followers ciblée food /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  empanadas / cuisine latine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Objectif : +500-1000/mois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Coût estimé : 0,50-0,70€/follower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Crédibilisation avant lancement 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188720"/>
            <a:ext cx="2606040" cy="4114800"/>
          </a:xfrm>
          <a:prstGeom prst="roundRect">
            <a:avLst>
              <a:gd name="adj" fmla="val 5263"/>
            </a:avLst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BASE AUDIENCES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0" y="1920240"/>
            <a:ext cx="2331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Lookalike depuis 39K followers 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Audiences ultra-personnalisées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  (persona client)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Segmentation cold / warm / hot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Audiences géo Paris + IDF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PHASE 0 — FORFAIT SETUP UNIQUE : 1 500€ HT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CIBLE 1 : </a:t>
            </a:r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B2C CLIENTS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286000"/>
                <a:gridCol w="301752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Campagnes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Canal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Format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Ciblage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KPI cible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8D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</a:rPr>
                        <a:t>Trafic &amp; Followers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Meta (IG + FB)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Reels, carrousels, visuels fixes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Audiences ultra-perso + lookalike ES, food, 18-45 ans, Paris + IDF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Coût/follower &lt; 0,60€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+500-1000/mois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</a:rPr>
                        <a:t>Engagement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Meta (IG + FB)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Reels, carrousels, visuels fixes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Followers + look-alike clients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Engagement &gt; 4%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Partages &gt; 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</a:rPr>
                        <a:t>Notoriété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Meta (IG + FB)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Reels vidéo 15-30s, visuels fixes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18-45 ans, foodie, cuisine latine, sorties Paris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Coût/1000 vues &lt; 6€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Portée &gt; 200K/mois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</a:rPr>
                        <a:t>Search Ads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Google 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Annonces texte + extensions lieu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empanadas Paris, restaurant argentin, à emporter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Taux de clic &gt; 5%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Coût/clic &lt; 0,80€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0"/>
                          </a:solidFill>
                        </a:rPr>
                        <a:t>Remarketing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Google + Meta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Retargeting multi-canal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Visiteurs site + viewers 50%+ vidéos, non-convertis 30j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Coût/clic &lt; 0,50€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B0"/>
                          </a:solidFill>
                        </a:rPr>
                        <a:t>Taux de clic &gt; 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2D264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A9E8"/>
                </a:solidFill>
              </a:rPr>
              <a:t>⚠️ Les campagnes Meta fonctionnent en simultané.    </a:t>
            </a:r>
            <a:pPr algn="ctr" indent="0" marL="0">
              <a:buNone/>
            </a:pPr>
            <a:r>
              <a:rPr lang="en-US" sz="1200" b="1" dirty="0">
                <a:solidFill>
                  <a:srgbClr val="36A9E1"/>
                </a:solidFill>
              </a:rPr>
              <a:t>Répartition : 70% Meta / 30% Google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STRATÉGIE DE </a:t>
            </a:r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VIDÉO REELS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Format n°1 sur Meta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Vidéos 20-40s : ambiance, coulisses, fabrication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Mix pro + authentique (filmé iPhone)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Le contenu « amateur » génère plus d'engagement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F5C77D"/>
          </a:solidFill>
          <a:ln w="25400">
            <a:solidFill>
              <a:srgbClr val="F5C7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CONTENU ESPAGNOL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Recyclage vidéos du compte ES (39K)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Sous-titres français ajoutés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Collaborations vidéos avec franchisés internationaux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L'authenticité internationale est une force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NANO-INFLUENCEURS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Partenariats food creators Paris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Audiences engagées et spécialisées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Dotations produit en échange de contenu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UGC (contenu généré par les clients)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188720"/>
            <a:ext cx="2606040" cy="3657600"/>
          </a:xfrm>
          <a:prstGeom prst="roundRect">
            <a:avLst>
              <a:gd name="adj" fmla="val 5263"/>
            </a:avLst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PERSONAL BRANDING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0" y="192024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Incarner la marque par les fondateurs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Les consommateurs veulent connaître l'histoire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Vidéos longues (3-4 min) découpées en reels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Min. 2 publications/semaine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66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</a:rPr>
              <a:t>📌 Production : ~10 vidéos pro/an + ~50 vidéos authentiques + recyclage contenu ES. Préparer 3 mois en une session = 12 vidéos.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B2C CLIENTS / </a:t>
            </a:r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BUDGET À TIROIR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D0E8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ESSENTIEL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1 500€/mois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média : 1 000€ / honoraires : 500€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Trafic Meta + acquisition followers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Notoriété Meta (IG + FB)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Audiences lookalike Espagne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1-2 audiences personnalisées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Dashboard personnalisé 24h/24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Reporting mensuel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530352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4A90B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~Reach 100-150K/mois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5C77D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2 000€/mois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média : 1 300€ / honoraires : 700€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Trafic + Engagement + Notoriété Meta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Google Search + Remarketing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3-4 audiences testées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Tracking complet du site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Contenu recyclé ES → FR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Dashboard unifié 24h/24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530352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D4A0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~Reach 250-400K/mois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0B8D8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ACCÉLÉRATION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3 000€/mois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média : 2 000€ / honoraires : 1 000€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6517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Full activation Meta multi-objectifs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Google Search + Remarketing avancé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5-6 audiences testées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Stratégie nano-influenceurs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Acquisition followers continue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Canal WhatsApp équipe Koven 7j/7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530352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C84B8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~Reach 500K+/mois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CIBLE 2 : </a:t>
            </a:r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B2B FRANCHISE (À PARTIR DU 6ÈME MOIS)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</a:rPr>
              <a:t>La notoriété B2C construit la désirabilité. Les futurs franchisés vérifieront votre présence digitale — une communauté forte est votre meilleur argument.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8686800" cy="1325880"/>
          </a:xfrm>
          <a:prstGeom prst="roundRect">
            <a:avLst>
              <a:gd name="adj" fmla="val 8276"/>
            </a:avLst>
          </a:prstGeom>
          <a:solidFill>
            <a:srgbClr val="2A2A2A"/>
          </a:solidFill>
          <a:ln w="19050">
            <a:solidFill>
              <a:srgbClr val="3D2E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TOFU — Notoriété / 40% du budget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Vidéos fondateurs (personal branding)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Contenu B2C exploitable pour le recrutement franchise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Coulisses réseau, ambiance boutique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Objectif : éduquer l'audience, créer le lien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92640" y="20116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0B8D8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CANAUX 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Meta (IG + FB)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8686800" cy="1325880"/>
          </a:xfrm>
          <a:prstGeom prst="roundRect">
            <a:avLst>
              <a:gd name="adj" fmla="val 8276"/>
            </a:avLst>
          </a:prstGeom>
          <a:solidFill>
            <a:srgbClr val="2A2A2A"/>
          </a:solidFill>
          <a:ln w="19050">
            <a:solidFill>
              <a:srgbClr val="3D3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MOFU — Considération / 35% du budget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6576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Témoignages franchisés internationaux (Espagne, Pays-Bas)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Carrousels chiffres clés &amp; étapes pour devenir franchisé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Contenu « Pourquoi Tío Bigotes » — retargeting viewers 50%+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35661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5C77D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3566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CANAUX 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Meta + Google Search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8686800" cy="1325880"/>
          </a:xfrm>
          <a:prstGeom prst="roundRect">
            <a:avLst>
              <a:gd name="adj" fmla="val 8276"/>
            </a:avLst>
          </a:prstGeom>
          <a:solidFill>
            <a:srgbClr val="2A2A2A"/>
          </a:solidFill>
          <a:ln w="19050">
            <a:solidFill>
              <a:srgbClr val="283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BOFU — Conversion / 25% du budget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Lead Ads formulaire qualifié (Meta)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Google Search : « franchise empanadas », « ouvrir restaurant argentin »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• Retargeting visiteurs page franchise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5120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0E8F7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5120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CANAUX 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Meta + Google Search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B2B FRANCHISE / </a:t>
            </a:r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BUDGET À TIROIR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D0E8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ESSENTIEL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1 750€/mois HT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média : 1 000€ / honoraires : 750€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Meta Lead Ads (BOFU uniquement)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Google Search marque + générique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Remarketing site franchise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1 audience lookalike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Reporting mensuel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Pipeline de suivi des leads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530352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4A90B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~30-50 leads/mois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5C77D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2 350€/mois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média : 1 500€ / honoraires : 850€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TOFU vidéo fondateurs + BOFU Lead Ads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Google Search + Remarketing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3-5 audiences testées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Créatifs renouvelés mensuellement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Dashboard personnalisé 24h/24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530352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D4A0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~60-100 leads/mois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0B8D8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ACCÉLÉRATION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3 500€/mois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média : 2 500€ / honoraires : 1 000€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6517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Full funnel TOFU + MOFU + BOFU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Google Search + Remarketing avancé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Meta multi-objectifs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Acquisition followers continue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Créatifs renouvelés mensuellement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Canal WhatsApp équipe Koven 7j/7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530352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C84B8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5303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~120-180 leads/mois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RÉCAPITULATIF / </a:t>
            </a:r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INVESTISSEMENT GLOBAL MENSUEL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532888"/>
                <a:gridCol w="2532888"/>
                <a:gridCol w="253288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ESSENTIEL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PERFORMANCE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7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ACCÉLÉRATION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8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0F0"/>
                          </a:solidFill>
                        </a:rPr>
                        <a:t>B2C Clients — Média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1 000€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1 300€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2 000€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0F0"/>
                          </a:solidFill>
                        </a:rPr>
                        <a:t>B2C Clients — Honoraires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500€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700€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1 000€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</a:rPr>
                        <a:t>B2B Franchise — Média (au 6ème mois)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1 000€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1 500€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2 500€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</a:rPr>
                        <a:t>B2B Franchise — Honoraires (au 6ème mois)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750€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850€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0B0"/>
                          </a:solidFill>
                        </a:rPr>
                        <a:t>1 000€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A9E8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Total mensuel (B2C seul)</a:t>
                      </a:r>
                      <a:endParaRPr lang="en-US" sz="14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6A9E1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1 500€/mois</a:t>
                      </a:r>
                      <a:endParaRPr lang="en-US" sz="16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4A04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2 000€/mois</a:t>
                      </a:r>
                      <a:endParaRPr lang="en-US" sz="16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7933B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3 000€/mois</a:t>
                      </a:r>
                      <a:endParaRPr lang="en-US" sz="16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A9E8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Total mensuel (B2C + B2B)</a:t>
                      </a:r>
                      <a:endParaRPr lang="en-US" sz="14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6A9E1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3 250€/mois</a:t>
                      </a:r>
                      <a:endParaRPr lang="en-US" sz="16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4A04A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4 350€/mois</a:t>
                      </a:r>
                      <a:endParaRPr lang="en-US" sz="16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7933B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6 500€/mois</a:t>
                      </a:r>
                      <a:endParaRPr lang="en-US" sz="16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6000"/>
            </a:avLst>
          </a:prstGeom>
          <a:solidFill>
            <a:srgbClr val="D0E8F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PHASE 0 (setup unique) : 1 500€ HT — inclus dans le 1er mois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Les cibles sont activables indépendamment / vous pouvez mixer les paliers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Honoraires = gestion, optimisation, reporting, dashboard. Budget média = versé directement à Meta/Google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Engagement minimum recommandé : 3 mois / les algorithmes ont besoin de données pour optimiser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Les comptes publicitaires, pages et données restent 100% propriété de Tío Bigotes — aucune rétention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SCÉNARIOS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474720" cy="5303520"/>
          </a:xfrm>
          <a:prstGeom prst="roundRect">
            <a:avLst>
              <a:gd name="adj" fmla="val 3947"/>
            </a:avLst>
          </a:prstGeom>
          <a:solidFill>
            <a:srgbClr val="D0E8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SCÉNARIO A / LANCEMENT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1 500€/mois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puis +1 750€/mois au 6ème mois (franchise)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B2C Essentiel (1 000€ média)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Trafic + Engagement + Notoriété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Acquisition followers lookalike ES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+ Honoraires (500€)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À partir du 6ème mois 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+ B2B Franchise Essentiel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(1 000€ média + 750€ honoraires)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557784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4A90B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Construire la base, puis activer la franchise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3474720" cy="5303520"/>
          </a:xfrm>
          <a:prstGeom prst="roundRect">
            <a:avLst>
              <a:gd name="adj" fmla="val 3947"/>
            </a:avLst>
          </a:prstGeom>
          <a:solidFill>
            <a:srgbClr val="F5C77D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SCÉNARIO B / ÉQUILIBRÉ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2 000€/mois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puis +2 350€/mois au 6ème mois (franchise)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B2C Performance (1 300€ média)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Meta + Google Search + Remarketing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Tracking complet + dashboard 24/7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+ Honoraires (700€)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À partir du 6ème mois 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+ B2B Franchise Performance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(1 500€ média + 850€ honoraires)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557784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D4A0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RECOMMANDÉ : meilleur ratio impact/budget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097280"/>
            <a:ext cx="3474720" cy="5303520"/>
          </a:xfrm>
          <a:prstGeom prst="roundRect">
            <a:avLst>
              <a:gd name="adj" fmla="val 3947"/>
            </a:avLst>
          </a:prstGeom>
          <a:solidFill>
            <a:srgbClr val="F0B8D8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SCÉNARIO C / ACCÉLÉRATION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3 000€/mois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puis +3 500€/mois au 6ème mois (franchise)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56032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B2C Accélération (2 000€ média)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Full activation Meta + Google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Nano-influenceurs + WhatsApp 7j/7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+ Honoraires (1 000€)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À partir du 6ème mois 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+ B2B Franchise Accélération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(2 500€ média + 1 000€ honoraires)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557784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C84B8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Croissance maximale sur tous les fronts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A9E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NOS </a:t>
            </a:r>
            <a:pPr indent="0" marL="0">
              <a:buNone/>
            </a:pPr>
            <a:r>
              <a:rPr lang="en-US" sz="30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ENGAGEMENTS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9050">
            <a:solidFill>
              <a:srgbClr val="B8A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PROPRIÉTÉ TOTALE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Tous les comptes, pages, pixels et données créés restent 100% propriété de Tío Bigotes. Aucune rétention en cas de fin de collaboration.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9050">
            <a:solidFill>
              <a:srgbClr val="F0B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TRANSPARENCE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Dashboard personnalisé accessible 24h/24. Budget média versé directement aux plateformes. Reporting détaillé avec preuves de dépenses.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1887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9050">
            <a:solidFill>
              <a:srgbClr val="36A9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RÉACTIVITÉ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Réponse &lt; 3h en semaine. Optimisations en continu. Call de suivi régulier. Ajustement des campagnes sans délai.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FLEXIBILITÉ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Engagement 3 mois renouvelable. Possibilité de monter ou descendre de palier chaque trimestre. Offre modulable par cible.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749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9050">
            <a:solidFill>
              <a:srgbClr val="F5C7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EXPERTISE RESTAURATION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Ôcargo, The Crying Tiger, Mamie Bigoude, Olla Poké, Biba Brunch, Toa Sushi, Marvely — notre secteur de prédilection.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 w="19050">
            <a:solidFill>
              <a:srgbClr val="D0E8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STRATÉGIE SUR-MESURE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297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0B0B0"/>
                </a:solidFill>
              </a:rPr>
              <a:t>Exploitation du compte espagnol (39K) en lookalike. Recyclage contenu international. Approche B2C d'abord, B2B franchise à 6 mois.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6A9E1"/>
          </a:solidFill>
          <a:ln/>
        </p:spPr>
      </p:sp>
      <p:pic>
        <p:nvPicPr>
          <p:cNvPr id="3" name="Image 0" descr="/Users/zahouane/Test HZ Dev/_tools/koven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645920"/>
            <a:ext cx="41148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707070"/>
                </a:solidFill>
              </a:rPr>
              <a:t>×</a:t>
            </a:r>
            <a:endParaRPr lang="en-US" sz="3000" dirty="0"/>
          </a:p>
        </p:txBody>
      </p:sp>
      <p:pic>
        <p:nvPicPr>
          <p:cNvPr id="5" name="Image 1" descr="https://tiobigotes.fr/cdn/shop/files/logo-blanc.png?v=1692804243&amp;width=600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371600"/>
            <a:ext cx="5029200" cy="1645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0F0F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PASSONS À </a:t>
            </a:r>
            <a:pPr algn="ctr" indent="0" marL="0">
              <a:buNone/>
            </a:pPr>
            <a:r>
              <a:rPr lang="en-US" sz="4800" i="1" dirty="0">
                <a:solidFill>
                  <a:srgbClr val="36A9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L'ACTION.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2026-04-24T13:55:59Z</dcterms:created>
  <dcterms:modified xsi:type="dcterms:W3CDTF">2026-04-24T13:55:59Z</dcterms:modified>
</cp:coreProperties>
</file>